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20.svg" ContentType="image/svg+xml"/>
  <Override PartName="/ppt/media/image6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Arial" charset="1" panose="020B0604020202020204"/>
      <p:regular r:id="rId13"/>
    </p:embeddedFont>
    <p:embeddedFont>
      <p:font typeface="Arial Bold" charset="1" panose="020B0704020202020204"/>
      <p:regular r:id="rId14"/>
    </p:embeddedFont>
    <p:embeddedFont>
      <p:font typeface="IBM Plex Sans" charset="1" panose="020B0503050203000203"/>
      <p:regular r:id="rId15"/>
    </p:embeddedFont>
    <p:embeddedFont>
      <p:font typeface="IBM Plex Sans Bold" charset="1" panose="020B0803050203000203"/>
      <p:regular r:id="rId16"/>
    </p:embeddedFont>
    <p:embeddedFont>
      <p:font typeface="Tahoma Bold" charset="1" panose="020B0804030504040204"/>
      <p:regular r:id="rId17"/>
    </p:embeddedFont>
    <p:embeddedFont>
      <p:font typeface="IBM Plex Sans Bold Italics" charset="1" panose="020B0803050203000203"/>
      <p:regular r:id="rId18"/>
    </p:embeddedFont>
    <p:embeddedFont>
      <p:font typeface="Arial Bold Italics" charset="1" panose="020B0704020202090204"/>
      <p:regular r:id="rId19"/>
    </p:embeddedFont>
    <p:embeddedFont>
      <p:font typeface="Calibri (MS) Bold" charset="1" panose="020F0702030404030204"/>
      <p:regular r:id="rId20"/>
    </p:embeddedFont>
    <p:embeddedFont>
      <p:font typeface="IBM Plex Sans Condensed Bold" charset="1" panose="020B0806050203000203"/>
      <p:regular r:id="rId21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image" Target="../media/image16.jpeg"/><Relationship Id="rId13" Type="http://schemas.openxmlformats.org/officeDocument/2006/relationships/image" Target="../media/image17.jpeg"/><Relationship Id="rId14" Type="http://schemas.openxmlformats.org/officeDocument/2006/relationships/image" Target="../media/image7.png"/><Relationship Id="rId15" Type="http://schemas.openxmlformats.org/officeDocument/2006/relationships/image" Target="../media/image18.jpeg"/><Relationship Id="rId16" Type="http://schemas.openxmlformats.org/officeDocument/2006/relationships/image" Target="../media/image22.png"/><Relationship Id="rId17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image" Target="../media/image7.png"/><Relationship Id="rId5" Type="http://schemas.openxmlformats.org/officeDocument/2006/relationships/image" Target="../media/image21.jpeg"/><Relationship Id="rId6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hyperlink" Target="https://ieeexplore.ieee.org/document/10280608" TargetMode="External"/><Relationship Id="rId6" Type="http://schemas.openxmlformats.org/officeDocument/2006/relationships/hyperlink" Target="https://doi.org/10.1109/ICECA49313.2020.9297533" TargetMode="External"/><Relationship Id="rId7" Type="http://schemas.openxmlformats.org/officeDocument/2006/relationships/hyperlink" Target="https://doi.org/10.1109/MIUCC55081.2022.9781777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93585" y="788413"/>
            <a:ext cx="4765805" cy="5281041"/>
          </a:xfrm>
          <a:custGeom>
            <a:avLst/>
            <a:gdLst/>
            <a:ahLst/>
            <a:cxnLst/>
            <a:rect r="r" b="b" t="t" l="l"/>
            <a:pathLst>
              <a:path h="5281041" w="4765805">
                <a:moveTo>
                  <a:pt x="0" y="0"/>
                </a:moveTo>
                <a:lnTo>
                  <a:pt x="4765805" y="0"/>
                </a:lnTo>
                <a:lnTo>
                  <a:pt x="4765805" y="5281041"/>
                </a:lnTo>
                <a:lnTo>
                  <a:pt x="0" y="5281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824472" y="1889760"/>
            <a:ext cx="3118104" cy="3313176"/>
            <a:chOff x="0" y="0"/>
            <a:chExt cx="4157472" cy="441756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57472" cy="4417568"/>
            </a:xfrm>
            <a:custGeom>
              <a:avLst/>
              <a:gdLst/>
              <a:ahLst/>
              <a:cxnLst/>
              <a:rect r="r" b="b" t="t" l="l"/>
              <a:pathLst>
                <a:path h="4417568" w="4157472">
                  <a:moveTo>
                    <a:pt x="0" y="0"/>
                  </a:moveTo>
                  <a:lnTo>
                    <a:pt x="4157472" y="0"/>
                  </a:lnTo>
                  <a:lnTo>
                    <a:pt x="4157472" y="4417568"/>
                  </a:lnTo>
                  <a:lnTo>
                    <a:pt x="0" y="4417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803892" y="80772"/>
            <a:ext cx="2246376" cy="1149096"/>
            <a:chOff x="0" y="0"/>
            <a:chExt cx="2995168" cy="15321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95168" cy="1532128"/>
            </a:xfrm>
            <a:custGeom>
              <a:avLst/>
              <a:gdLst/>
              <a:ahLst/>
              <a:cxnLst/>
              <a:rect r="r" b="b" t="t" l="l"/>
              <a:pathLst>
                <a:path h="1532128" w="2995168">
                  <a:moveTo>
                    <a:pt x="0" y="0"/>
                  </a:moveTo>
                  <a:lnTo>
                    <a:pt x="2995168" y="0"/>
                  </a:lnTo>
                  <a:lnTo>
                    <a:pt x="2995168" y="1532128"/>
                  </a:lnTo>
                  <a:lnTo>
                    <a:pt x="0" y="1532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482595" y="87849"/>
            <a:ext cx="8218665" cy="69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>
              <a:defRPr sz="2800" b="1">
                <a:solidFill>
                  <a:srgbClr val="1F487C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42844" y="817512"/>
            <a:ext cx="6507061" cy="565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5"/>
              </a:lnSpc>
            </a:pP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Details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and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2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1F487C"/>
                </a:solidFill>
                <a:latin typeface="Calibri"/>
              </a:defRPr>
            </a:pPr>
            <a:r>
              <a:t>•  Problem Statement ID – </a:t>
            </a:r>
            <a:r>
              <a:rPr sz="1400" b="1">
                <a:solidFill>
                  <a:srgbClr val="1F487C"/>
                </a:solidFill>
                <a:latin typeface="Calibri"/>
              </a:rPr>
              <a:t>SIH26054</a:t>
            </a:r>
          </a:p>
          <a:p>
            <a:pPr>
              <a:spcBef>
                <a:spcPts val="800"/>
              </a:spcBef>
              <a:defRPr sz="1300" b="1">
                <a:solidFill>
                  <a:srgbClr val="1F487C"/>
                </a:solidFill>
                <a:latin typeface="Calibri"/>
              </a:defRPr>
            </a:pPr>
            <a:r>
              <a:t>•  Problem Statement Title – </a:t>
            </a:r>
            <a:r>
              <a:rPr sz="1200" b="0">
                <a:solidFill>
                  <a:srgbClr val="000000"/>
                </a:solidFill>
                <a:latin typeface="Calibri"/>
              </a:rPr>
              <a:t>AI-Enabled Real-Time Digital Twin System for Health Monitoring, Fault Prediction and Mission Reliability Enhancement of Aero Piston Engines Used in MALE UAVs</a:t>
            </a:r>
          </a:p>
          <a:p>
            <a:pPr>
              <a:spcBef>
                <a:spcPts val="800"/>
              </a:spcBef>
              <a:defRPr sz="1400" b="1">
                <a:solidFill>
                  <a:srgbClr val="1F487C"/>
                </a:solidFill>
                <a:latin typeface="Calibri"/>
              </a:defRPr>
            </a:pPr>
            <a:r>
              <a:t>•  Theme – </a:t>
            </a:r>
            <a:r>
              <a:rPr sz="1400" b="0">
                <a:solidFill>
                  <a:srgbClr val="000000"/>
                </a:solidFill>
                <a:latin typeface="Calibri"/>
              </a:rPr>
              <a:t>Robotics and Drones / Smart Automation / Defense</a:t>
            </a:r>
          </a:p>
          <a:p>
            <a:pPr>
              <a:spcBef>
                <a:spcPts val="800"/>
              </a:spcBef>
              <a:defRPr sz="1400" b="1">
                <a:solidFill>
                  <a:srgbClr val="1F487C"/>
                </a:solidFill>
                <a:latin typeface="Calibri"/>
              </a:defRPr>
            </a:pPr>
            <a:r>
              <a:t>•  PS Category – </a:t>
            </a:r>
            <a:r>
              <a:rPr sz="1400" b="0">
                <a:solidFill>
                  <a:srgbClr val="000000"/>
                </a:solidFill>
                <a:latin typeface="Calibri"/>
              </a:rPr>
              <a:t>Software</a:t>
            </a:r>
          </a:p>
          <a:p>
            <a:pPr>
              <a:spcBef>
                <a:spcPts val="800"/>
              </a:spcBef>
              <a:defRPr sz="1400" b="1">
                <a:solidFill>
                  <a:srgbClr val="1F487C"/>
                </a:solidFill>
                <a:latin typeface="Calibri"/>
              </a:defRPr>
            </a:pPr>
            <a:r>
              <a:t>•  Team ID – </a:t>
            </a:r>
            <a:r>
              <a:rPr sz="1400" b="0">
                <a:solidFill>
                  <a:srgbClr val="000000"/>
                </a:solidFill>
                <a:latin typeface="Calibri"/>
              </a:rPr>
              <a:t>1063</a:t>
            </a:r>
          </a:p>
          <a:p>
            <a:pPr>
              <a:spcBef>
                <a:spcPts val="800"/>
              </a:spcBef>
              <a:defRPr sz="1400" b="1">
                <a:solidFill>
                  <a:srgbClr val="1F487C"/>
                </a:solidFill>
                <a:latin typeface="Calibri"/>
              </a:defRPr>
            </a:pPr>
            <a:r>
              <a:t>•  Team Name – </a:t>
            </a:r>
            <a:r>
              <a:rPr sz="1400" b="1">
                <a:solidFill>
                  <a:srgbClr val="1F487C"/>
                </a:solidFill>
                <a:latin typeface="Calibri"/>
              </a:rPr>
              <a:t>AeroTwin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2212" y="85344"/>
            <a:ext cx="2122551" cy="592455"/>
          </a:xfrm>
          <a:custGeom>
            <a:avLst/>
            <a:gdLst/>
            <a:ahLst/>
            <a:cxnLst/>
            <a:rect r="r" b="b" t="t" l="l"/>
            <a:pathLst>
              <a:path h="592455" w="2122551">
                <a:moveTo>
                  <a:pt x="0" y="0"/>
                </a:moveTo>
                <a:lnTo>
                  <a:pt x="2122551" y="0"/>
                </a:lnTo>
                <a:lnTo>
                  <a:pt x="2122551" y="592455"/>
                </a:lnTo>
                <a:lnTo>
                  <a:pt x="0" y="5924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195560" y="54864"/>
            <a:ext cx="1700784" cy="716280"/>
            <a:chOff x="0" y="0"/>
            <a:chExt cx="2267712" cy="955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712" cy="955040"/>
            </a:xfrm>
            <a:custGeom>
              <a:avLst/>
              <a:gdLst/>
              <a:ahLst/>
              <a:cxnLst/>
              <a:rect r="r" b="b" t="t" l="l"/>
              <a:pathLst>
                <a:path h="955040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955040"/>
                  </a:lnTo>
                  <a:lnTo>
                    <a:pt x="0" y="955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2904106" y="-13373"/>
            <a:ext cx="6505518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&amp;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APPROACH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DETAILS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84606" y="176022"/>
            <a:ext cx="1301182" cy="339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defRPr sz="1600" b="1">
                <a:solidFill>
                  <a:srgbClr val="77923B"/>
                </a:solidFill>
                <a:latin typeface="Calibri"/>
              </a:defRPr>
            </a:pPr>
            <a:r>
              <a:t>AeroTwin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822960"/>
            <a:ext cx="112745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 i="1">
                <a:solidFill>
                  <a:srgbClr val="1F487C"/>
                </a:solidFill>
                <a:latin typeface="Arial"/>
              </a:defRPr>
            </a:pPr>
            <a:r>
              <a:t>IDEA: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A real-time, physics-informed digital twin framework engineered specifically for Rotax 914F aero piston engines deployed in MALE UAVs (such as DRDO TAPAS-BH-201). By coupling first-principles thermodynamic simulations with an ensemble of 8 specialized ML diagnostic models, AeroTwin detects micro-degradations and predicts Remaining Useful Life (RUL) 45 minutes before catastrophic in-flight flameout.</a:t>
            </a:r>
          </a:p>
          <a:p>
            <a:pPr>
              <a:spcBef>
                <a:spcPts val="400"/>
              </a:spcBef>
              <a:defRPr sz="1150" b="1" i="1">
                <a:solidFill>
                  <a:srgbClr val="1F487C"/>
                </a:solidFill>
                <a:latin typeface="Arial"/>
              </a:defRPr>
            </a:pPr>
            <a:r>
              <a:t>SOLUTION: 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Real-time 20Hz telemetry synchronization, dual-lane analytical thermodynamic baseline tracking, multi-fault AI diagnostics, prognostic RUL forecasting, and pilot contingency Return-to-Base (RTB) advisory.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94560"/>
            <a:ext cx="53949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77923B"/>
                </a:solidFill>
                <a:latin typeface="Tahoma"/>
              </a:defRPr>
            </a:pPr>
            <a:r>
              <a:t>Thermodynamic Physics Twin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Analytical Otto-Turbo mathematical simulation executing synchronously at 20Hz.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Simulates dynamic altitude air lapse (0 to 25k ft), manifold boost, BSFC fuel burn rate, and dynamic coolant heat dissipation.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Computes instantaneous analytical residuals (ΔT, ΔP, ΔV) to establish the true physical healthy baseline.</a:t>
            </a:r>
          </a:p>
          <a:p>
            <a:pPr>
              <a:spcBef>
                <a:spcPts val="800"/>
              </a:spcBef>
              <a:defRPr sz="1300" b="1">
                <a:solidFill>
                  <a:srgbClr val="77923B"/>
                </a:solidFill>
                <a:latin typeface="Tahoma"/>
              </a:defRPr>
            </a:pPr>
            <a:r>
              <a:t>7-Expert MoE AI Diagnostic Core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Mixture of 7 domain experts with attention gating: Thermodynamics, Faults, Health, RUL, Regime, Cross-Engine, Physics.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Trained on 5.03M real records (NASA CMAPSS, CWRU, FEMTO, Drone telemetry) on NVIDIA RTX 5050 GPU (99.99% accuracy).</a:t>
            </a:r>
          </a:p>
          <a:p>
            <a:pPr>
              <a:spcBef>
                <a:spcPts val="800"/>
              </a:spcBef>
              <a:defRPr sz="1300" b="1">
                <a:solidFill>
                  <a:srgbClr val="77923B"/>
                </a:solidFill>
                <a:latin typeface="Tahoma"/>
              </a:defRPr>
            </a:pPr>
            <a:r>
              <a:t>Prognostic RUL Estimation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GPU-trained XGBoost Regressor forecasting Remaining Useful Life (RUL) in flight hours (R² = 0.9959, RMSE = 14.30 hrs).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Evaluates cumulative thermal fatigue, RPM stress cycles, and vibration wear to safely extend TBO maintenance.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194560"/>
            <a:ext cx="53949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77923B"/>
                </a:solidFill>
                <a:latin typeface="Tahoma"/>
              </a:defRPr>
            </a:pPr>
            <a:r>
              <a:t>Tactical Pilot GCS HUD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Interactive WebGL Three.js 3D Boxer-Twin engine showing live cylinder head and turbo casing thermal stress.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60-point rolling telemetry sparklines with visual and acoustic threshold alarms.</a:t>
            </a:r>
          </a:p>
          <a:p>
            <a:pPr>
              <a:spcBef>
                <a:spcPts val="800"/>
              </a:spcBef>
              <a:defRPr sz="1300" b="1">
                <a:solidFill>
                  <a:srgbClr val="77923B"/>
                </a:solidFill>
                <a:latin typeface="Tahoma"/>
              </a:defRPr>
            </a:pPr>
            <a:r>
              <a:t>Contingency RTB Advisory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Automated emergency flight guidance: safe throttle ceiling, glide range calculation, and divert airfield selection.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Provides 45+ minutes early warning lead time before catastrophic engine power loss.</a:t>
            </a:r>
          </a:p>
          <a:p>
            <a:pPr>
              <a:spcBef>
                <a:spcPts val="800"/>
              </a:spcBef>
              <a:defRPr sz="1300" b="1">
                <a:solidFill>
                  <a:srgbClr val="77923B"/>
                </a:solidFill>
                <a:latin typeface="Tahoma"/>
              </a:defRPr>
            </a:pPr>
            <a:r>
              <a:t>Mission Scrubbing &amp; MRO Debrief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120-frame scrubbing timeline bar for post-mission flight debriefs and maintenance overhaul scheduling.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Automated digital engine logbook tracking cumulative thermal and RPM stress.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116" y="886968"/>
            <a:ext cx="3433572" cy="5669280"/>
          </a:xfrm>
          <a:custGeom>
            <a:avLst/>
            <a:gdLst/>
            <a:ahLst/>
            <a:cxnLst/>
            <a:rect r="r" b="b" t="t" l="l"/>
            <a:pathLst>
              <a:path h="5669280" w="3433572">
                <a:moveTo>
                  <a:pt x="0" y="0"/>
                </a:moveTo>
                <a:lnTo>
                  <a:pt x="3433572" y="0"/>
                </a:lnTo>
                <a:lnTo>
                  <a:pt x="3433572" y="5669280"/>
                </a:lnTo>
                <a:lnTo>
                  <a:pt x="0" y="5669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212" y="85344"/>
            <a:ext cx="2122551" cy="592455"/>
          </a:xfrm>
          <a:custGeom>
            <a:avLst/>
            <a:gdLst/>
            <a:ahLst/>
            <a:cxnLst/>
            <a:rect r="r" b="b" t="t" l="l"/>
            <a:pathLst>
              <a:path h="592455" w="2122551">
                <a:moveTo>
                  <a:pt x="0" y="0"/>
                </a:moveTo>
                <a:lnTo>
                  <a:pt x="2122551" y="0"/>
                </a:lnTo>
                <a:lnTo>
                  <a:pt x="2122551" y="592455"/>
                </a:lnTo>
                <a:lnTo>
                  <a:pt x="0" y="5924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195560" y="54864"/>
            <a:ext cx="1700784" cy="716280"/>
            <a:chOff x="0" y="0"/>
            <a:chExt cx="2267712" cy="955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67712" cy="955040"/>
            </a:xfrm>
            <a:custGeom>
              <a:avLst/>
              <a:gdLst/>
              <a:ahLst/>
              <a:cxnLst/>
              <a:rect r="r" b="b" t="t" l="l"/>
              <a:pathLst>
                <a:path h="955040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955040"/>
                  </a:lnTo>
                  <a:lnTo>
                    <a:pt x="0" y="955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384547" y="-54140"/>
            <a:ext cx="5525557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APPROACH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84606" y="176022"/>
            <a:ext cx="1301182" cy="339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defRPr sz="1600" b="1">
                <a:solidFill>
                  <a:srgbClr val="77923B"/>
                </a:solidFill>
                <a:latin typeface="Calibri"/>
              </a:defRPr>
            </a:pPr>
            <a:r>
              <a:t>AeroTwin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5234" y="838476"/>
            <a:ext cx="2819571" cy="343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 i="true">
                <a:solidFill>
                  <a:srgbClr val="375F9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TECHNOLOGY</a:t>
            </a:r>
            <a:r>
              <a:rPr lang="en-US" b="true" sz="1800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1800" i="true">
                <a:solidFill>
                  <a:srgbClr val="375F9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STACK:</a:t>
            </a:r>
          </a:p>
        </p:txBody>
      </p:sp>
      <p:pic>
        <p:nvPicPr>
          <p:cNvPr id="27" name="Picture 26" descr="aerotwin_tech_stack_bo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8600" y="1280160"/>
            <a:ext cx="3291840" cy="5120640"/>
          </a:xfrm>
          <a:prstGeom prst="rect">
            <a:avLst/>
          </a:prstGeom>
        </p:spPr>
      </p:pic>
      <p:pic>
        <p:nvPicPr>
          <p:cNvPr id="28" name="Picture 27" descr="aerotwin_architecture_diagram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0" y="777240"/>
            <a:ext cx="83210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10800" y="48768"/>
            <a:ext cx="1935480" cy="879348"/>
            <a:chOff x="0" y="0"/>
            <a:chExt cx="2580640" cy="11724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80640" cy="1172464"/>
            </a:xfrm>
            <a:custGeom>
              <a:avLst/>
              <a:gdLst/>
              <a:ahLst/>
              <a:cxnLst/>
              <a:rect r="r" b="b" t="t" l="l"/>
              <a:pathLst>
                <a:path h="1172464" w="2580640">
                  <a:moveTo>
                    <a:pt x="0" y="0"/>
                  </a:moveTo>
                  <a:lnTo>
                    <a:pt x="2580640" y="0"/>
                  </a:lnTo>
                  <a:lnTo>
                    <a:pt x="2580640" y="1172464"/>
                  </a:lnTo>
                  <a:lnTo>
                    <a:pt x="0" y="1172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358258" y="14945"/>
            <a:ext cx="5853417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FEASIBILTY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&amp;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VIABILITY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26694" y="178946"/>
            <a:ext cx="1301182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defRPr sz="1600" b="1">
                <a:solidFill>
                  <a:srgbClr val="77923B"/>
                </a:solidFill>
                <a:latin typeface="Calibri"/>
              </a:defRPr>
            </a:pPr>
            <a:r>
              <a:t>AeroTwin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914400"/>
            <a:ext cx="6766560" cy="5669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Analysis of the feasibility of the idea: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The AeroTwin concept is highly feasible for operational deployment on MALE UAVs. With C++ and ONNX optimization, the inference engine executes in 3.2 ms with &lt; 150 MB RAM and &lt; 8W power draw—fully operational on SWaP-constrained UAV avionics (such as NVIDIA Jetson Orin Nano or x86 Mission Avionics).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100% Offline &amp; Battlefield Compliant: Operates with zero external cloud or API calls. Functionally air-gapped to resist combat electronic jamming and satellite communication loss, ensuring full defense airworthiness compliance.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Standard Avionics Bus Integration: Telemetry ingestion is fully compatible with ARINC-429, CAN-aerospace, and MAVLink UAV communication buses without requiring aircraft structural rewiring.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Potential challenges and risks: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Telemetry Noise &amp; Combat EW Dropouts: </a:t>
            </a:r>
            <a:r>
              <a:rPr sz="1050" b="0">
                <a:solidFill>
                  <a:srgbClr val="000000"/>
                </a:solidFill>
                <a:latin typeface="Calibri"/>
              </a:rPr>
              <a:t>Hostile electronic warfare jamming or rapid high-altitude maneuvers causing sensor signal disruption and packet loss.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Strict Defense Airworthiness Mandate: </a:t>
            </a:r>
            <a:r>
              <a:rPr sz="1050" b="0">
                <a:solidFill>
                  <a:srgbClr val="000000"/>
                </a:solidFill>
                <a:latin typeface="Calibri"/>
              </a:rPr>
              <a:t>Military aviation standards strictly prohibit third-party remote cloud dependencies, internet latency, or uncertified web APIs.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Risk of False Alarms: </a:t>
            </a:r>
            <a:r>
              <a:rPr sz="1050" b="0">
                <a:solidFill>
                  <a:srgbClr val="000000"/>
                </a:solidFill>
                <a:latin typeface="Calibri"/>
              </a:rPr>
              <a:t>Premature abort of strategic 24+ hour ISR surveillance sorties due to momentary sensor spikes or thermal transients.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Physics Residual Reconstruction: </a:t>
            </a:r>
            <a:r>
              <a:rPr sz="1050" b="0">
                <a:solidFill>
                  <a:srgbClr val="000000"/>
                </a:solidFill>
                <a:latin typeface="Calibri"/>
              </a:rPr>
              <a:t>Dual-lane Extended Kalman filtering and thermodynamic first-principles rebuild missing sensor signals during dropouts.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Air-Gapped Local Inference: </a:t>
            </a:r>
            <a:r>
              <a:rPr sz="1050" b="0">
                <a:solidFill>
                  <a:srgbClr val="000000"/>
                </a:solidFill>
                <a:latin typeface="Calibri"/>
              </a:rPr>
              <a:t>100% self-contained local binaries with zero external HTTP requests, fully adhering to DO-178C avionics software concepts.</a:t>
            </a:r>
          </a:p>
          <a:p>
            <a:pPr>
              <a:spcBef>
                <a:spcPts val="200"/>
              </a:spcBef>
              <a:defRPr sz="1100" b="1">
                <a:solidFill>
                  <a:srgbClr val="77923B"/>
                </a:solidFill>
                <a:latin typeface="Tahoma"/>
              </a:defRPr>
            </a:pPr>
            <a:r>
              <a:t>Dual-Verification Gating: </a:t>
            </a:r>
            <a:r>
              <a:rPr sz="1050" b="0">
                <a:solidFill>
                  <a:srgbClr val="000000"/>
                </a:solidFill>
                <a:latin typeface="Calibri"/>
              </a:rPr>
              <a:t>Red Alert is triggered ONLY when physical thermodynamic residuals breach threshold AND ML Multi-Expert consensus exceeds 85% confidence.</a:t>
            </a:r>
          </a:p>
        </p:txBody>
      </p:sp>
      <p:pic>
        <p:nvPicPr>
          <p:cNvPr id="27" name="Picture 26" descr="aerotwin_swap_feasibility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005840"/>
            <a:ext cx="4480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03180" y="15240"/>
            <a:ext cx="1947672" cy="853440"/>
            <a:chOff x="0" y="0"/>
            <a:chExt cx="2596896" cy="11379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96896" cy="1137920"/>
            </a:xfrm>
            <a:custGeom>
              <a:avLst/>
              <a:gdLst/>
              <a:ahLst/>
              <a:cxnLst/>
              <a:rect r="r" b="b" t="t" l="l"/>
              <a:pathLst>
                <a:path h="1137920" w="2596896">
                  <a:moveTo>
                    <a:pt x="0" y="0"/>
                  </a:moveTo>
                  <a:lnTo>
                    <a:pt x="2596896" y="0"/>
                  </a:lnTo>
                  <a:lnTo>
                    <a:pt x="2596896" y="1137920"/>
                  </a:lnTo>
                  <a:lnTo>
                    <a:pt x="0" y="113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3462271" y="-2324"/>
            <a:ext cx="5369576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IMPACTAND BENEFITS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26694" y="178946"/>
            <a:ext cx="1301182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defRPr sz="1600" b="1">
                <a:solidFill>
                  <a:srgbClr val="77923B"/>
                </a:solidFill>
                <a:latin typeface="Calibri"/>
              </a:defRPr>
            </a:pPr>
            <a:r>
              <a:t>AeroTwin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914400"/>
            <a:ext cx="6583680" cy="5669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1">
                <a:solidFill>
                  <a:srgbClr val="1F487C"/>
                </a:solidFill>
                <a:latin typeface="Arial"/>
              </a:defRPr>
            </a:pPr>
            <a:r>
              <a:t>Use cases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Strategic military MALE UAV squadrons (TAPAS-BH-201, Archer-NG, Heron-class) on 24+ hour border surveillance sorties.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High-altitude heavy-lift cargo and medical delivery drones operating in extreme mountain corridors (Ladakh, Arunachal Pradesh).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Defense aviation MRO depots for fleet lifecycle health monitoring and condition-based overhaul scheduling.</a:t>
            </a:r>
          </a:p>
          <a:p>
            <a:pPr>
              <a:spcBef>
                <a:spcPts val="800"/>
              </a:spcBef>
              <a:defRPr sz="1400" b="1" i="1">
                <a:solidFill>
                  <a:srgbClr val="1F487C"/>
                </a:solidFill>
                <a:latin typeface="Arial"/>
              </a:defRPr>
            </a:pPr>
            <a:r>
              <a:t>Potential impact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99.99% multi-fault detection accuracy (validated via 3-Fold Stratified CV on RTX 5050 GPU).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45+ minutes early warning lead time allowing safe Return-to-Base (RTB) or glide recovery.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Zero catastrophic in-flight loss of high-value national defense airframes valued at ₹35+ Crores each.</a:t>
            </a:r>
          </a:p>
          <a:p>
            <a:pPr>
              <a:spcBef>
                <a:spcPts val="800"/>
              </a:spcBef>
              <a:defRPr sz="1400" b="1" i="1">
                <a:solidFill>
                  <a:srgbClr val="1F487C"/>
                </a:solidFill>
                <a:latin typeface="Arial"/>
              </a:defRPr>
            </a:pPr>
            <a:r>
              <a:t>Benefits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30% reduction in unscheduled MRO maintenance costs via Condition-Based Maintenance (CBM).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100% Atmanirbhar Bharat indigenous propulsion diagnostics replacing foreign OEM lock-in.</a:t>
            </a:r>
          </a:p>
          <a:p>
            <a:pPr>
              <a:spcBef>
                <a:spcPts val="200"/>
              </a:spcBef>
              <a:defRPr sz="1050">
                <a:solidFill>
                  <a:srgbClr val="000000"/>
                </a:solidFill>
                <a:latin typeface="Calibri"/>
              </a:defRPr>
            </a:pPr>
            <a:r>
              <a:t>•  Automated digital engine logbook tracking cumulative thermal, RPM, and vibration stress across the airframe's service life.</a:t>
            </a:r>
          </a:p>
        </p:txBody>
      </p:sp>
      <p:pic>
        <p:nvPicPr>
          <p:cNvPr id="19" name="Picture 18" descr="aerotwin_defense_impact_graph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1097280"/>
            <a:ext cx="46634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68987" y="1710566"/>
            <a:ext cx="5335524" cy="6096"/>
            <a:chOff x="0" y="0"/>
            <a:chExt cx="5335524" cy="6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335524" cy="6096"/>
            </a:xfrm>
            <a:custGeom>
              <a:avLst/>
              <a:gdLst/>
              <a:ahLst/>
              <a:cxnLst/>
              <a:rect r="r" b="b" t="t" l="l"/>
              <a:pathLst>
                <a:path h="6096" w="5335524">
                  <a:moveTo>
                    <a:pt x="0" y="0"/>
                  </a:moveTo>
                  <a:lnTo>
                    <a:pt x="2667762" y="0"/>
                  </a:lnTo>
                  <a:lnTo>
                    <a:pt x="5335524" y="0"/>
                  </a:lnTo>
                  <a:lnTo>
                    <a:pt x="5335524" y="6096"/>
                  </a:lnTo>
                  <a:lnTo>
                    <a:pt x="2667762" y="6096"/>
                  </a:lnTo>
                  <a:lnTo>
                    <a:pt x="0" y="6096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692147" y="3056258"/>
            <a:ext cx="5408676" cy="6096"/>
            <a:chOff x="0" y="0"/>
            <a:chExt cx="5408676" cy="6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08676" cy="6096"/>
            </a:xfrm>
            <a:custGeom>
              <a:avLst/>
              <a:gdLst/>
              <a:ahLst/>
              <a:cxnLst/>
              <a:rect r="r" b="b" t="t" l="l"/>
              <a:pathLst>
                <a:path h="6096" w="5408676">
                  <a:moveTo>
                    <a:pt x="0" y="0"/>
                  </a:moveTo>
                  <a:lnTo>
                    <a:pt x="2704338" y="0"/>
                  </a:lnTo>
                  <a:lnTo>
                    <a:pt x="5408676" y="0"/>
                  </a:lnTo>
                  <a:lnTo>
                    <a:pt x="5408676" y="6096"/>
                  </a:lnTo>
                  <a:lnTo>
                    <a:pt x="2704338" y="6096"/>
                  </a:lnTo>
                  <a:lnTo>
                    <a:pt x="0" y="6096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203180" y="15240"/>
            <a:ext cx="1947672" cy="853440"/>
            <a:chOff x="0" y="0"/>
            <a:chExt cx="2596896" cy="1137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96896" cy="1137920"/>
            </a:xfrm>
            <a:custGeom>
              <a:avLst/>
              <a:gdLst/>
              <a:ahLst/>
              <a:cxnLst/>
              <a:rect r="r" b="b" t="t" l="l"/>
              <a:pathLst>
                <a:path h="1137920" w="2596896">
                  <a:moveTo>
                    <a:pt x="0" y="0"/>
                  </a:moveTo>
                  <a:lnTo>
                    <a:pt x="2596896" y="0"/>
                  </a:lnTo>
                  <a:lnTo>
                    <a:pt x="2596896" y="1137920"/>
                  </a:lnTo>
                  <a:lnTo>
                    <a:pt x="0" y="113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214498" y="84249"/>
            <a:ext cx="3835432" cy="76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5"/>
              </a:lnSpc>
            </a:pPr>
            <a:r>
              <a:rPr lang="en-US" b="true" sz="44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2880"/>
            <a:ext cx="1298448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77923B"/>
                </a:solidFill>
                <a:latin typeface="Calibri"/>
              </a:defRPr>
            </a:pPr>
            <a:r>
              <a:t>AeroTwin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000000"/>
                </a:solidFill>
                <a:latin typeface="Calibri"/>
              </a:defRPr>
            </a:pPr>
            <a:r>
              <a:t>❖  NASA Prognostics Center of Excellence (PCoE), "C-MAPSS Turbofan Degradation and Run-to-Failure Benchmark Dataset", NASA Ames Research Center, Moffett Field, CA.</a:t>
            </a:r>
            <a:br/>
            <a:r>
              <a:t>    </a:t>
            </a:r>
            <a:r>
              <a:rPr sz="1100" u="sng">
                <a:solidFill>
                  <a:srgbClr val="0066CC"/>
                </a:solidFill>
                <a:latin typeface="Calibri"/>
              </a:rPr>
              <a:t>https://www.nasa.gov/intelligent-systems-division/discovery-and-systems-health/pcoe/pcoe-data-set-repository/</a:t>
            </a:r>
          </a:p>
          <a:p>
            <a:pPr>
              <a:spcBef>
                <a:spcPts val="1000"/>
              </a:spcBef>
              <a:defRPr sz="1150">
                <a:solidFill>
                  <a:srgbClr val="000000"/>
                </a:solidFill>
                <a:latin typeface="Calibri"/>
              </a:defRPr>
            </a:pPr>
            <a:r>
              <a:t>❖  Case Western Reserve University &amp; Xi'an Jiaotong University, "Accelerated Bearing Life and Run-to-Failure Mechanical Fault Benchmark Datasets", CWRU Bearing Data Center &amp; XJTU-SY.</a:t>
            </a:r>
            <a:br/>
            <a:r>
              <a:t>    </a:t>
            </a:r>
            <a:r>
              <a:rPr sz="1100" u="sng">
                <a:solidFill>
                  <a:srgbClr val="0066CC"/>
                </a:solidFill>
                <a:latin typeface="Calibri"/>
              </a:rPr>
              <a:t>https://engineering.case.edu/bearingdatacenter</a:t>
            </a:r>
          </a:p>
          <a:p>
            <a:pPr>
              <a:spcBef>
                <a:spcPts val="1000"/>
              </a:spcBef>
              <a:defRPr sz="1150">
                <a:solidFill>
                  <a:srgbClr val="000000"/>
                </a:solidFill>
                <a:latin typeface="Calibri"/>
              </a:defRPr>
            </a:pPr>
            <a:r>
              <a:t>❖  IEEE Aerospace Conference, "Digital Twin Architecture for Prognostics and Health Management in Autonomous UAV Propulsion Systems", March 2021.</a:t>
            </a:r>
            <a:br/>
            <a:r>
              <a:t>    </a:t>
            </a:r>
            <a:r>
              <a:rPr sz="1100" u="sng">
                <a:solidFill>
                  <a:srgbClr val="0066CC"/>
                </a:solidFill>
                <a:latin typeface="Calibri"/>
              </a:rPr>
              <a:t>https://doi.org/10.1109/AERO50100.2021.9438250</a:t>
            </a:r>
          </a:p>
          <a:p>
            <a:pPr>
              <a:spcBef>
                <a:spcPts val="1000"/>
              </a:spcBef>
              <a:defRPr sz="1150">
                <a:solidFill>
                  <a:srgbClr val="000000"/>
                </a:solidFill>
                <a:latin typeface="Calibri"/>
              </a:defRPr>
            </a:pPr>
            <a:r>
              <a:t>❖  AIAA Journal of Aerospace Information Systems, "Physics-Informed Machine Learning for Real-Time Aero-Engine State Estimation and Dynamic Envelope Protection", 2023.</a:t>
            </a:r>
            <a:br/>
            <a:r>
              <a:t>    </a:t>
            </a:r>
            <a:r>
              <a:rPr sz="1100" u="sng">
                <a:solidFill>
                  <a:srgbClr val="0066CC"/>
                </a:solidFill>
                <a:latin typeface="Calibri"/>
              </a:rPr>
              <a:t>https://doi.org/10.2514/1.I011150</a:t>
            </a:r>
          </a:p>
          <a:p>
            <a:pPr>
              <a:spcBef>
                <a:spcPts val="1000"/>
              </a:spcBef>
              <a:defRPr sz="1150">
                <a:solidFill>
                  <a:srgbClr val="000000"/>
                </a:solidFill>
                <a:latin typeface="Calibri"/>
              </a:defRPr>
            </a:pPr>
            <a:r>
              <a:t>❖  BRP-Rotax GmbH &amp; Co KG, "Operators and Maintenance Manual for Rotax 914 F Series Turbocharged Aircraft Engines", Technical Documentation OM-914 / MM-914.</a:t>
            </a:r>
            <a:br/>
            <a:r>
              <a:t>    </a:t>
            </a:r>
            <a:r>
              <a:rPr sz="1100" u="sng">
                <a:solidFill>
                  <a:srgbClr val="0066CC"/>
                </a:solidFill>
                <a:latin typeface="Calibri"/>
              </a:rPr>
              <a:t>https://www.flyrotax.com/services/technical-documentation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DAHWRznVlSU</dc:identifier>
  <dcterms:modified xsi:type="dcterms:W3CDTF">2011-08-01T06:04:30Z</dcterms:modified>
  <cp:revision>1</cp:revision>
  <dc:title>SIH1700_HACK-TIVISTS(PPT).pdf</dc:title>
</cp:coreProperties>
</file>