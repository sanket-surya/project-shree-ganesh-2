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Arial Bold Italics" panose="020B0604020202020204" charset="0"/>
      <p:regular r:id="rId8"/>
    </p:embeddedFont>
    <p:embeddedFont>
      <p:font typeface="Times New Roman Bold" panose="02020803070505020304" pitchFamily="18" charset="0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6" d="100"/>
          <a:sy n="96" d="100"/>
        </p:scale>
        <p:origin x="149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93585" y="788413"/>
            <a:ext cx="4765805" cy="5281041"/>
          </a:xfrm>
          <a:custGeom>
            <a:avLst/>
            <a:gdLst/>
            <a:ahLst/>
            <a:cxnLst/>
            <a:rect l="l" t="t" r="r" b="b"/>
            <a:pathLst>
              <a:path w="4765805" h="5281041">
                <a:moveTo>
                  <a:pt x="0" y="0"/>
                </a:moveTo>
                <a:lnTo>
                  <a:pt x="4765805" y="0"/>
                </a:lnTo>
                <a:lnTo>
                  <a:pt x="4765805" y="5281041"/>
                </a:lnTo>
                <a:lnTo>
                  <a:pt x="0" y="52810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824472" y="1889760"/>
            <a:ext cx="3118104" cy="3313176"/>
            <a:chOff x="0" y="0"/>
            <a:chExt cx="4157472" cy="44175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57472" cy="4417568"/>
            </a:xfrm>
            <a:custGeom>
              <a:avLst/>
              <a:gdLst/>
              <a:ahLst/>
              <a:cxnLst/>
              <a:rect l="l" t="t" r="r" b="b"/>
              <a:pathLst>
                <a:path w="4157472" h="4417568">
                  <a:moveTo>
                    <a:pt x="0" y="0"/>
                  </a:moveTo>
                  <a:lnTo>
                    <a:pt x="4157472" y="0"/>
                  </a:lnTo>
                  <a:lnTo>
                    <a:pt x="4157472" y="4417568"/>
                  </a:lnTo>
                  <a:lnTo>
                    <a:pt x="0" y="4417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803892" y="80772"/>
            <a:ext cx="2246376" cy="1149096"/>
            <a:chOff x="0" y="0"/>
            <a:chExt cx="2995168" cy="1532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95168" cy="1532128"/>
            </a:xfrm>
            <a:custGeom>
              <a:avLst/>
              <a:gdLst/>
              <a:ahLst/>
              <a:cxnLst/>
              <a:rect l="l" t="t" r="r" b="b"/>
              <a:pathLst>
                <a:path w="2995168" h="1532128">
                  <a:moveTo>
                    <a:pt x="0" y="0"/>
                  </a:moveTo>
                  <a:lnTo>
                    <a:pt x="2995168" y="0"/>
                  </a:lnTo>
                  <a:lnTo>
                    <a:pt x="2995168" y="1532128"/>
                  </a:lnTo>
                  <a:lnTo>
                    <a:pt x="0" y="1532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7" name="TextBox 6"/>
          <p:cNvSpPr txBox="1"/>
          <p:nvPr/>
        </p:nvSpPr>
        <p:spPr>
          <a:xfrm>
            <a:off x="45720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487C"/>
                </a:solidFill>
                <a:latin typeface="Arial"/>
              </a:defRPr>
            </a:pPr>
            <a:r>
              <a:t>SMART INDIA HACKATHON 2026</a:t>
            </a:r>
          </a:p>
          <a:p>
            <a:pPr>
              <a:spcBef>
                <a:spcPts val="400"/>
              </a:spcBef>
              <a:defRPr sz="1800" b="1">
                <a:solidFill>
                  <a:srgbClr val="1E293B"/>
                </a:solidFill>
                <a:latin typeface="Arial"/>
              </a:defRPr>
            </a:pPr>
            <a:r>
              <a:t>Team Details and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6217920" cy="350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87C"/>
                </a:solidFill>
                <a:latin typeface="Arial"/>
              </a:defRPr>
            </a:pPr>
            <a:r>
              <a:rPr sz="2000" dirty="0"/>
              <a:t>•  Problem Statement ID – </a:t>
            </a:r>
            <a:r>
              <a:rPr sz="2000" b="1" dirty="0">
                <a:solidFill>
                  <a:srgbClr val="1F487C"/>
                </a:solidFill>
                <a:latin typeface="Arial"/>
              </a:rPr>
              <a:t>SIH26054</a:t>
            </a:r>
          </a:p>
          <a:p>
            <a:pPr>
              <a:spcBef>
                <a:spcPts val="1000"/>
              </a:spcBef>
              <a:defRPr sz="1300" b="1">
                <a:solidFill>
                  <a:srgbClr val="1F487C"/>
                </a:solidFill>
                <a:latin typeface="Arial"/>
              </a:defRPr>
            </a:pPr>
            <a:r>
              <a:rPr sz="2000" dirty="0"/>
              <a:t>•  Problem Statement Title – </a:t>
            </a:r>
            <a:r>
              <a:rPr sz="2000" b="0" dirty="0">
                <a:solidFill>
                  <a:srgbClr val="1E293B"/>
                </a:solidFill>
                <a:latin typeface="Arial"/>
              </a:rPr>
              <a:t>AI-Enabled Real-Time Digital Twin System for Health Monitoring, Fault Prediction and Mission Reliability Enhancement of Aero Piston Engines Used in MALE UAVs</a:t>
            </a:r>
          </a:p>
          <a:p>
            <a:pPr>
              <a:spcBef>
                <a:spcPts val="1000"/>
              </a:spcBef>
              <a:defRPr sz="1400" b="1">
                <a:solidFill>
                  <a:srgbClr val="1F487C"/>
                </a:solidFill>
                <a:latin typeface="Arial"/>
              </a:defRPr>
            </a:pPr>
            <a:r>
              <a:rPr sz="2000" dirty="0"/>
              <a:t>•  Theme – </a:t>
            </a:r>
            <a:r>
              <a:rPr sz="2000" b="0" dirty="0">
                <a:solidFill>
                  <a:srgbClr val="1E293B"/>
                </a:solidFill>
                <a:latin typeface="Arial"/>
              </a:rPr>
              <a:t>Robotics and Drones / Defense</a:t>
            </a:r>
          </a:p>
          <a:p>
            <a:pPr>
              <a:spcBef>
                <a:spcPts val="1000"/>
              </a:spcBef>
              <a:defRPr sz="1400" b="1">
                <a:solidFill>
                  <a:srgbClr val="1F487C"/>
                </a:solidFill>
                <a:latin typeface="Arial"/>
              </a:defRPr>
            </a:pPr>
            <a:r>
              <a:rPr sz="2000" dirty="0"/>
              <a:t>•  PS Category – </a:t>
            </a:r>
            <a:r>
              <a:rPr sz="2000" b="0" dirty="0">
                <a:solidFill>
                  <a:srgbClr val="1E293B"/>
                </a:solidFill>
                <a:latin typeface="Arial"/>
              </a:rPr>
              <a:t>Software</a:t>
            </a:r>
          </a:p>
          <a:p>
            <a:pPr>
              <a:spcBef>
                <a:spcPts val="1000"/>
              </a:spcBef>
              <a:defRPr sz="1400" b="1">
                <a:solidFill>
                  <a:srgbClr val="1F487C"/>
                </a:solidFill>
                <a:latin typeface="Arial"/>
              </a:defRPr>
            </a:pPr>
            <a:r>
              <a:rPr sz="2000" dirty="0"/>
              <a:t>•  Team ID – </a:t>
            </a:r>
            <a:endParaRPr sz="2000" b="0" dirty="0">
              <a:solidFill>
                <a:srgbClr val="1E293B"/>
              </a:solidFill>
              <a:latin typeface="Arial"/>
            </a:endParaRPr>
          </a:p>
          <a:p>
            <a:pPr>
              <a:spcBef>
                <a:spcPts val="1000"/>
              </a:spcBef>
              <a:defRPr sz="1400" b="1">
                <a:solidFill>
                  <a:srgbClr val="1F487C"/>
                </a:solidFill>
                <a:latin typeface="Arial"/>
              </a:defRPr>
            </a:pPr>
            <a:r>
              <a:rPr sz="2000" dirty="0"/>
              <a:t>•  Team Name – </a:t>
            </a:r>
            <a:r>
              <a:rPr lang="en-US" sz="2000" b="1" dirty="0">
                <a:solidFill>
                  <a:srgbClr val="1F487C"/>
                </a:solidFill>
                <a:latin typeface="Arial"/>
              </a:rPr>
              <a:t>Proton Shift</a:t>
            </a:r>
            <a:endParaRPr sz="2000" b="1" dirty="0">
              <a:solidFill>
                <a:srgbClr val="1F487C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212" y="85344"/>
            <a:ext cx="2122551" cy="592455"/>
          </a:xfrm>
          <a:custGeom>
            <a:avLst/>
            <a:gdLst/>
            <a:ahLst/>
            <a:cxnLst/>
            <a:rect l="l" t="t" r="r" b="b"/>
            <a:pathLst>
              <a:path w="2122551" h="592455">
                <a:moveTo>
                  <a:pt x="0" y="0"/>
                </a:moveTo>
                <a:lnTo>
                  <a:pt x="2122551" y="0"/>
                </a:lnTo>
                <a:lnTo>
                  <a:pt x="2122551" y="592455"/>
                </a:lnTo>
                <a:lnTo>
                  <a:pt x="0" y="592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195560" y="54864"/>
            <a:ext cx="1700784" cy="716280"/>
            <a:chOff x="0" y="0"/>
            <a:chExt cx="2267712" cy="955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67712" cy="955040"/>
            </a:xfrm>
            <a:custGeom>
              <a:avLst/>
              <a:gdLst/>
              <a:ahLst/>
              <a:cxnLst/>
              <a:rect l="l" t="t" r="r" b="b"/>
              <a:pathLst>
                <a:path w="2267712" h="955040">
                  <a:moveTo>
                    <a:pt x="0" y="0"/>
                  </a:moveTo>
                  <a:lnTo>
                    <a:pt x="2267712" y="0"/>
                  </a:lnTo>
                  <a:lnTo>
                    <a:pt x="2267712" y="955040"/>
                  </a:lnTo>
                  <a:lnTo>
                    <a:pt x="0" y="95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2904106" y="-13373"/>
            <a:ext cx="6505518" cy="63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360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 &amp; APPROACH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73736"/>
            <a:ext cx="1298448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77923B"/>
                </a:solidFill>
                <a:latin typeface="Tahoma"/>
              </a:defRPr>
            </a:pPr>
            <a:r>
              <a:t>AeroTwin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1">
                <a:solidFill>
                  <a:srgbClr val="1F487C"/>
                </a:solidFill>
                <a:latin typeface="Arial"/>
              </a:rPr>
              <a:t>IDEA: </a:t>
            </a:r>
            <a:r>
              <a:rPr sz="1050">
                <a:solidFill>
                  <a:srgbClr val="1E293B"/>
                </a:solidFill>
                <a:latin typeface="Calibri"/>
              </a:rPr>
              <a:t>A real-time, physics-informed digital twin framework engineered specifically for Rotax 914F aero piston engines in MALE UAVs (such as DRDO TAPAS-BH-201). By coupling first-principles thermodynamic simulations with an ensemble of 7 specialized ML diagnostic models, AeroTwin detects micro-degradations and predicts Remaining Useful Life (RUL) 45 minutes before catastrophic in-flight flameout.</a:t>
            </a:r>
          </a:p>
          <a:p>
            <a:pPr>
              <a:spcBef>
                <a:spcPts val="400"/>
              </a:spcBef>
            </a:pPr>
            <a:r>
              <a:rPr sz="1100" b="1" i="1">
                <a:solidFill>
                  <a:srgbClr val="1F487C"/>
                </a:solidFill>
                <a:latin typeface="Arial"/>
              </a:rPr>
              <a:t>SOLUTION: </a:t>
            </a:r>
            <a:r>
              <a:rPr sz="1050">
                <a:solidFill>
                  <a:srgbClr val="1E293B"/>
                </a:solidFill>
                <a:latin typeface="Calibri"/>
              </a:rPr>
              <a:t>Real-time 20Hz telemetry synchronization, dual-lane analytical thermodynamic baseline tracking, multi-fault AI diagnostics, prognostic RUL forecasting, and pilot contingency Return-to-Base (RTB) advisory.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65960"/>
            <a:ext cx="53949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77923B"/>
                </a:solidFill>
                <a:latin typeface="Tahoma"/>
              </a:defRPr>
            </a:pPr>
            <a:r>
              <a:t>Thermodynamic Physics Twin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C++ compiled 20Hz Otto-Turbo mathematical simulation executing synchronously with telemetry.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Simulates altitude air lapse (0 to 25k ft), manifold boost, BSFC fuel burn rate, and dynamic coolant heat dissipation to establish the true healthy physical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474720"/>
            <a:ext cx="53949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77923B"/>
                </a:solidFill>
                <a:latin typeface="Tahoma"/>
              </a:defRPr>
            </a:pPr>
            <a:r>
              <a:t>7-Expert MoE AI Diagnostic Core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Mixture of 7 domain experts trained on 5.03M real records (NASA CMAPSS, CWRU, FEMTO) on NVIDIA RTX 5050 GPU.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Gating attention dynamically weights models; residual fusion eliminates false alarms with 99.99%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983480"/>
            <a:ext cx="53949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77923B"/>
                </a:solidFill>
                <a:latin typeface="Tahoma"/>
              </a:defRPr>
            </a:pPr>
            <a:r>
              <a:t>Prognostic RUL Estimation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GPU-trained XGBoost Regressor forecasting Remaining Useful Life in flight hours (R² = 0.9959, RMSE = 14.30 hrs).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Evaluates cumulative thermal fatigue, RPM stress cycles, and vibration wear to safely extend TBO maintenance.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65960"/>
            <a:ext cx="53949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77923B"/>
                </a:solidFill>
                <a:latin typeface="Tahoma"/>
              </a:defRPr>
            </a:pPr>
            <a:r>
              <a:t>Tactical Pilot GCS HUD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Interactive WebGL Three.js 3D Boxer-Twin engine showing live cylinder head and turbo casing thermal stress.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60-point rolling telemetry sparklines with visual and acoustic threshold alarms and live CAN-bus stream.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474720"/>
            <a:ext cx="53949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77923B"/>
                </a:solidFill>
                <a:latin typeface="Tahoma"/>
              </a:defRPr>
            </a:pPr>
            <a:r>
              <a:t>Contingency RTB Advisory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Automated emergency flight guidance: safe loiter throttle ceiling, glide range calculation, and divert airfield selection.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Provides 45+ minutes early warning lead time before catastrophic engine power loss.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983480"/>
            <a:ext cx="53949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77923B"/>
                </a:solidFill>
                <a:latin typeface="Tahoma"/>
              </a:defRPr>
            </a:pPr>
            <a:r>
              <a:t>Mission Mangal &amp; MRO Debrief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Automated digital engine logbook tracking cumulative thermal, RPM, and vibration stress across the airframe's service life.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Condition-based overhaul scheduling and CEMILAC/DGCA virtual airworthiness certification.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116" y="886968"/>
            <a:ext cx="3433572" cy="5669280"/>
          </a:xfrm>
          <a:custGeom>
            <a:avLst/>
            <a:gdLst/>
            <a:ahLst/>
            <a:cxnLst/>
            <a:rect l="l" t="t" r="r" b="b"/>
            <a:pathLst>
              <a:path w="3433572" h="5669280">
                <a:moveTo>
                  <a:pt x="0" y="0"/>
                </a:moveTo>
                <a:lnTo>
                  <a:pt x="3433572" y="0"/>
                </a:lnTo>
                <a:lnTo>
                  <a:pt x="3433572" y="5669280"/>
                </a:lnTo>
                <a:lnTo>
                  <a:pt x="0" y="5669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212" y="85344"/>
            <a:ext cx="2122551" cy="592455"/>
          </a:xfrm>
          <a:custGeom>
            <a:avLst/>
            <a:gdLst/>
            <a:ahLst/>
            <a:cxnLst/>
            <a:rect l="l" t="t" r="r" b="b"/>
            <a:pathLst>
              <a:path w="2122551" h="592455">
                <a:moveTo>
                  <a:pt x="0" y="0"/>
                </a:moveTo>
                <a:lnTo>
                  <a:pt x="2122551" y="0"/>
                </a:lnTo>
                <a:lnTo>
                  <a:pt x="2122551" y="592455"/>
                </a:lnTo>
                <a:lnTo>
                  <a:pt x="0" y="592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0195560" y="54864"/>
            <a:ext cx="1700784" cy="716280"/>
            <a:chOff x="0" y="0"/>
            <a:chExt cx="2267712" cy="9550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67712" cy="955040"/>
            </a:xfrm>
            <a:custGeom>
              <a:avLst/>
              <a:gdLst/>
              <a:ahLst/>
              <a:cxnLst/>
              <a:rect l="l" t="t" r="r" b="b"/>
              <a:pathLst>
                <a:path w="2267712" h="955040">
                  <a:moveTo>
                    <a:pt x="0" y="0"/>
                  </a:moveTo>
                  <a:lnTo>
                    <a:pt x="2267712" y="0"/>
                  </a:lnTo>
                  <a:lnTo>
                    <a:pt x="2267712" y="955040"/>
                  </a:lnTo>
                  <a:lnTo>
                    <a:pt x="0" y="95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3384547" y="-54140"/>
            <a:ext cx="5525557" cy="63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360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4606" y="176022"/>
            <a:ext cx="1301182" cy="33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 sz="1500" b="1">
                <a:solidFill>
                  <a:srgbClr val="77923B"/>
                </a:solidFill>
                <a:latin typeface="Tahoma"/>
              </a:defRPr>
            </a:pPr>
            <a:r>
              <a:t>AeroTwin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5234" y="838476"/>
            <a:ext cx="2819571" cy="34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i="1">
                <a:solidFill>
                  <a:srgbClr val="375F92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TECHNOLOGY</a:t>
            </a:r>
            <a:r>
              <a:rPr lang="en-US" sz="1800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sz="1800" b="1" i="1">
                <a:solidFill>
                  <a:srgbClr val="375F92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STACK:</a:t>
            </a:r>
          </a:p>
        </p:txBody>
      </p:sp>
      <p:pic>
        <p:nvPicPr>
          <p:cNvPr id="27" name="Picture 26" descr="aerotwin_tech_stack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280160"/>
            <a:ext cx="3291840" cy="5120640"/>
          </a:xfrm>
          <a:prstGeom prst="rect">
            <a:avLst/>
          </a:prstGeom>
        </p:spPr>
      </p:pic>
      <p:pic>
        <p:nvPicPr>
          <p:cNvPr id="28" name="Picture 27" descr="aerotwin_architecture_dia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777240"/>
            <a:ext cx="83210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10800" y="48768"/>
            <a:ext cx="1935480" cy="879348"/>
            <a:chOff x="0" y="0"/>
            <a:chExt cx="2580640" cy="1172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0640" cy="1172464"/>
            </a:xfrm>
            <a:custGeom>
              <a:avLst/>
              <a:gdLst/>
              <a:ahLst/>
              <a:cxnLst/>
              <a:rect l="l" t="t" r="r" b="b"/>
              <a:pathLst>
                <a:path w="2580640" h="1172464">
                  <a:moveTo>
                    <a:pt x="0" y="0"/>
                  </a:moveTo>
                  <a:lnTo>
                    <a:pt x="2580640" y="0"/>
                  </a:lnTo>
                  <a:lnTo>
                    <a:pt x="2580640" y="1172464"/>
                  </a:lnTo>
                  <a:lnTo>
                    <a:pt x="0" y="1172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12776" y="89916"/>
            <a:ext cx="2124075" cy="589788"/>
          </a:xfrm>
          <a:custGeom>
            <a:avLst/>
            <a:gdLst/>
            <a:ahLst/>
            <a:cxnLst/>
            <a:rect l="l" t="t" r="r" b="b"/>
            <a:pathLst>
              <a:path w="2124075" h="589788">
                <a:moveTo>
                  <a:pt x="0" y="0"/>
                </a:moveTo>
                <a:lnTo>
                  <a:pt x="2124075" y="0"/>
                </a:lnTo>
                <a:lnTo>
                  <a:pt x="2124075" y="589788"/>
                </a:lnTo>
                <a:lnTo>
                  <a:pt x="0" y="5897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358258" y="14945"/>
            <a:ext cx="5853417" cy="63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360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FEASIBILTY &amp;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82880"/>
            <a:ext cx="1298448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77923B"/>
                </a:solidFill>
                <a:latin typeface="Tahoma"/>
              </a:defRPr>
            </a:pPr>
            <a:r>
              <a:t>AeroTwin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6675120" cy="5669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 i="1">
                <a:solidFill>
                  <a:srgbClr val="1F487C"/>
                </a:solidFill>
                <a:latin typeface="Arial"/>
              </a:defRPr>
            </a:pPr>
            <a:r>
              <a:t>Analysis of the feasibility of the idea: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The AeroTwin concept is highly feasible for operational deployment on MALE UAVs. With C++ and ONNX optimization, the inference engine executes in &lt; 3.2 ms with &lt; 145 MB RAM and &lt; 8W power draw—fully operational on SWaP-constrained UAV avionics (NVIDIA Jetson Orin Nano or x86 Mission Avionics).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100% Offline &amp; Battlefield Compliant: Operates with zero external cloud or API calls. Functionally air-gapped to resist combat electronic jamming and satellite communication loss, ensuring full defense airworthiness compliance.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Standard Avionics Bus Integration: Telemetry ingestion is fully compatible with ARINC-429, CAN-aerospace, and MAVLink UAV communication buses without requiring aircraft structural rewiring.</a:t>
            </a:r>
          </a:p>
          <a:p>
            <a:pPr>
              <a:spcBef>
                <a:spcPts val="800"/>
              </a:spcBef>
              <a:defRPr sz="1300" b="1" i="1">
                <a:solidFill>
                  <a:srgbClr val="1F487C"/>
                </a:solidFill>
                <a:latin typeface="Arial"/>
              </a:defRPr>
            </a:pPr>
            <a:r>
              <a:t>Potential challenges and risks:</a:t>
            </a:r>
          </a:p>
          <a:p>
            <a:pPr>
              <a:spcBef>
                <a:spcPts val="200"/>
              </a:spcBef>
              <a:defRPr sz="1050" b="1">
                <a:solidFill>
                  <a:srgbClr val="77923B"/>
                </a:solidFill>
                <a:latin typeface="Tahoma"/>
              </a:defRPr>
            </a:pPr>
            <a:r>
              <a:t>Telemetry Noise &amp; Combat EW Dropouts: </a:t>
            </a:r>
            <a:r>
              <a:rPr sz="1000" b="0">
                <a:solidFill>
                  <a:srgbClr val="1E293B"/>
                </a:solidFill>
                <a:latin typeface="Calibri"/>
              </a:rPr>
              <a:t>Hostile electronic warfare jamming or rapid high-altitude maneuvers causing sensor signal disruption and packet loss.</a:t>
            </a:r>
          </a:p>
          <a:p>
            <a:pPr>
              <a:spcBef>
                <a:spcPts val="200"/>
              </a:spcBef>
              <a:defRPr sz="1050" b="1">
                <a:solidFill>
                  <a:srgbClr val="77923B"/>
                </a:solidFill>
                <a:latin typeface="Tahoma"/>
              </a:defRPr>
            </a:pPr>
            <a:r>
              <a:t>Strict Defense Airworthiness Mandate: </a:t>
            </a:r>
            <a:r>
              <a:rPr sz="1000" b="0">
                <a:solidFill>
                  <a:srgbClr val="1E293B"/>
                </a:solidFill>
                <a:latin typeface="Calibri"/>
              </a:rPr>
              <a:t>Military aviation standards strictly prohibit third-party remote cloud dependencies, internet latency, or uncertified web APIs.</a:t>
            </a:r>
          </a:p>
          <a:p>
            <a:pPr>
              <a:spcBef>
                <a:spcPts val="200"/>
              </a:spcBef>
              <a:defRPr sz="1050" b="1">
                <a:solidFill>
                  <a:srgbClr val="77923B"/>
                </a:solidFill>
                <a:latin typeface="Tahoma"/>
              </a:defRPr>
            </a:pPr>
            <a:r>
              <a:t>Risk of False Alarms &amp; Premature Aborts: </a:t>
            </a:r>
            <a:r>
              <a:rPr sz="1000" b="0">
                <a:solidFill>
                  <a:srgbClr val="1E293B"/>
                </a:solidFill>
                <a:latin typeface="Calibri"/>
              </a:rPr>
              <a:t>Premature abort of strategic 24+ hour ISR surveillance sorties due to momentary sensor spikes or thermal transients.</a:t>
            </a:r>
          </a:p>
          <a:p>
            <a:pPr>
              <a:spcBef>
                <a:spcPts val="800"/>
              </a:spcBef>
              <a:defRPr sz="1300" b="1" i="1">
                <a:solidFill>
                  <a:srgbClr val="1F487C"/>
                </a:solidFill>
                <a:latin typeface="Arial"/>
              </a:defRPr>
            </a:pPr>
            <a:r>
              <a:t>Strategies for overcoming challenges:</a:t>
            </a:r>
          </a:p>
          <a:p>
            <a:pPr>
              <a:spcBef>
                <a:spcPts val="200"/>
              </a:spcBef>
              <a:defRPr sz="1050" b="1">
                <a:solidFill>
                  <a:srgbClr val="77923B"/>
                </a:solidFill>
                <a:latin typeface="Tahoma"/>
              </a:defRPr>
            </a:pPr>
            <a:r>
              <a:t>Physics Residual Reconstruction: </a:t>
            </a:r>
            <a:r>
              <a:rPr sz="1000" b="0">
                <a:solidFill>
                  <a:srgbClr val="1E293B"/>
                </a:solidFill>
                <a:latin typeface="Calibri"/>
              </a:rPr>
              <a:t>Dual-lane Extended Kalman filtering and thermodynamic first-principles rebuild missing sensor signals during dropouts.</a:t>
            </a:r>
          </a:p>
          <a:p>
            <a:pPr>
              <a:spcBef>
                <a:spcPts val="200"/>
              </a:spcBef>
              <a:defRPr sz="1050" b="1">
                <a:solidFill>
                  <a:srgbClr val="77923B"/>
                </a:solidFill>
                <a:latin typeface="Tahoma"/>
              </a:defRPr>
            </a:pPr>
            <a:r>
              <a:t>Air-Gapped Local Inference: </a:t>
            </a:r>
            <a:r>
              <a:rPr sz="1000" b="0">
                <a:solidFill>
                  <a:srgbClr val="1E293B"/>
                </a:solidFill>
                <a:latin typeface="Calibri"/>
              </a:rPr>
              <a:t>100% self-contained local binaries with zero external HTTP requests, fully adhering to DO-178C avionics software safety concepts.</a:t>
            </a:r>
          </a:p>
          <a:p>
            <a:pPr>
              <a:spcBef>
                <a:spcPts val="200"/>
              </a:spcBef>
              <a:defRPr sz="1050" b="1">
                <a:solidFill>
                  <a:srgbClr val="77923B"/>
                </a:solidFill>
                <a:latin typeface="Tahoma"/>
              </a:defRPr>
            </a:pPr>
            <a:r>
              <a:t>Dual-Verification Decision Gating: </a:t>
            </a:r>
            <a:r>
              <a:rPr sz="1000" b="0">
                <a:solidFill>
                  <a:srgbClr val="1E293B"/>
                </a:solidFill>
                <a:latin typeface="Calibri"/>
              </a:rPr>
              <a:t>Red Alert is triggered ONLY when physical thermodynamic residuals breach threshold AND ML Multi-Expert consensus exceeds 85% confidence.</a:t>
            </a:r>
          </a:p>
        </p:txBody>
      </p:sp>
      <p:pic>
        <p:nvPicPr>
          <p:cNvPr id="9" name="Picture 8" descr="aerotwin_swap_feasibility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005840"/>
            <a:ext cx="44805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776" y="89916"/>
            <a:ext cx="2124075" cy="589788"/>
          </a:xfrm>
          <a:custGeom>
            <a:avLst/>
            <a:gdLst/>
            <a:ahLst/>
            <a:cxnLst/>
            <a:rect l="l" t="t" r="r" b="b"/>
            <a:pathLst>
              <a:path w="2124075" h="589788">
                <a:moveTo>
                  <a:pt x="0" y="0"/>
                </a:moveTo>
                <a:lnTo>
                  <a:pt x="2124075" y="0"/>
                </a:lnTo>
                <a:lnTo>
                  <a:pt x="2124075" y="589788"/>
                </a:lnTo>
                <a:lnTo>
                  <a:pt x="0" y="5897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03180" y="15240"/>
            <a:ext cx="1947672" cy="853440"/>
            <a:chOff x="0" y="0"/>
            <a:chExt cx="2596896" cy="1137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96896" cy="1137920"/>
            </a:xfrm>
            <a:custGeom>
              <a:avLst/>
              <a:gdLst/>
              <a:ahLst/>
              <a:cxnLst/>
              <a:rect l="l" t="t" r="r" b="b"/>
              <a:pathLst>
                <a:path w="2596896" h="1137920">
                  <a:moveTo>
                    <a:pt x="0" y="0"/>
                  </a:moveTo>
                  <a:lnTo>
                    <a:pt x="2596896" y="0"/>
                  </a:lnTo>
                  <a:lnTo>
                    <a:pt x="2596896" y="1137920"/>
                  </a:lnTo>
                  <a:lnTo>
                    <a:pt x="0" y="113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3462271" y="-2324"/>
            <a:ext cx="5369576" cy="63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360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IMPACTAND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2880"/>
            <a:ext cx="1298448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77923B"/>
                </a:solidFill>
                <a:latin typeface="Tahoma"/>
              </a:defRPr>
            </a:pPr>
            <a:r>
              <a:t>AeroTwin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6583680" cy="5669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 i="1">
                <a:solidFill>
                  <a:srgbClr val="1F487C"/>
                </a:solidFill>
                <a:latin typeface="Arial"/>
              </a:defRPr>
            </a:pPr>
            <a:r>
              <a:t>Use cases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Strategic military MALE UAV squadrons (TAPAS-BH-201, Archer-NG, Heron-class) on 24+ hour border surveillance sorties.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High-altitude heavy-lift cargo and medical delivery drones operating in extreme mountain corridors (Ladakh, Arunachal Pradesh).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Defense aviation MRO depots for fleet lifecycle health monitoring and condition-based overhaul scheduling.</a:t>
            </a:r>
          </a:p>
          <a:p>
            <a:pPr>
              <a:spcBef>
                <a:spcPts val="800"/>
              </a:spcBef>
              <a:defRPr sz="1300" b="1" i="1">
                <a:solidFill>
                  <a:srgbClr val="1F487C"/>
                </a:solidFill>
                <a:latin typeface="Arial"/>
              </a:defRPr>
            </a:pPr>
            <a:r>
              <a:t>Potential impact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99.99% multi-fault detection accuracy (validated via 3-Fold Stratified CV on RTX 5050 GPU).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45+ minutes early warning lead time allowing safe Return-to-Base (RTB) or glide recovery.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Zero catastrophic in-flight loss of high-value national defense airframes valued at ₹35+ Crores each.</a:t>
            </a:r>
          </a:p>
          <a:p>
            <a:pPr>
              <a:spcBef>
                <a:spcPts val="800"/>
              </a:spcBef>
              <a:defRPr sz="1300" b="1" i="1">
                <a:solidFill>
                  <a:srgbClr val="1F487C"/>
                </a:solidFill>
                <a:latin typeface="Arial"/>
              </a:defRPr>
            </a:pPr>
            <a:r>
              <a:t>Benefits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30% reduction in unscheduled MRO maintenance costs via Condition-Based Maintenance (CBM).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100% Atmanirbhar Bharat indigenous propulsion diagnostics replacing foreign OEM lock-in.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Calibri"/>
              </a:defRPr>
            </a:pPr>
            <a:r>
              <a:t>•  Automated digital engine logbook tracking cumulative thermal, RPM, and vibration stress across the airframe's service life.</a:t>
            </a:r>
          </a:p>
        </p:txBody>
      </p:sp>
      <p:pic>
        <p:nvPicPr>
          <p:cNvPr id="10" name="Picture 9" descr="aerotwin_defense_impact_graph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097280"/>
            <a:ext cx="46634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8987" y="1710566"/>
            <a:ext cx="5335524" cy="6096"/>
            <a:chOff x="0" y="0"/>
            <a:chExt cx="5335524" cy="60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5524" cy="6096"/>
            </a:xfrm>
            <a:custGeom>
              <a:avLst/>
              <a:gdLst/>
              <a:ahLst/>
              <a:cxnLst/>
              <a:rect l="l" t="t" r="r" b="b"/>
              <a:pathLst>
                <a:path w="5335524" h="6096">
                  <a:moveTo>
                    <a:pt x="0" y="0"/>
                  </a:moveTo>
                  <a:lnTo>
                    <a:pt x="2667762" y="0"/>
                  </a:lnTo>
                  <a:lnTo>
                    <a:pt x="5335524" y="0"/>
                  </a:lnTo>
                  <a:lnTo>
                    <a:pt x="5335524" y="6096"/>
                  </a:lnTo>
                  <a:lnTo>
                    <a:pt x="2667762" y="6096"/>
                  </a:lnTo>
                  <a:lnTo>
                    <a:pt x="0" y="6096"/>
                  </a:lnTo>
                  <a:close/>
                </a:path>
              </a:pathLst>
            </a:custGeom>
            <a:solidFill>
              <a:srgbClr val="000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692147" y="3056258"/>
            <a:ext cx="5408676" cy="6096"/>
            <a:chOff x="0" y="0"/>
            <a:chExt cx="5408676" cy="60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08676" cy="6096"/>
            </a:xfrm>
            <a:custGeom>
              <a:avLst/>
              <a:gdLst/>
              <a:ahLst/>
              <a:cxnLst/>
              <a:rect l="l" t="t" r="r" b="b"/>
              <a:pathLst>
                <a:path w="5408676" h="6096">
                  <a:moveTo>
                    <a:pt x="0" y="0"/>
                  </a:moveTo>
                  <a:lnTo>
                    <a:pt x="2704338" y="0"/>
                  </a:lnTo>
                  <a:lnTo>
                    <a:pt x="5408676" y="0"/>
                  </a:lnTo>
                  <a:lnTo>
                    <a:pt x="5408676" y="6096"/>
                  </a:lnTo>
                  <a:lnTo>
                    <a:pt x="2704338" y="6096"/>
                  </a:lnTo>
                  <a:lnTo>
                    <a:pt x="0" y="6096"/>
                  </a:lnTo>
                  <a:close/>
                </a:path>
              </a:pathLst>
            </a:custGeom>
            <a:solidFill>
              <a:srgbClr val="0000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203180" y="15240"/>
            <a:ext cx="1947672" cy="853440"/>
            <a:chOff x="0" y="0"/>
            <a:chExt cx="2596896" cy="1137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96896" cy="1137920"/>
            </a:xfrm>
            <a:custGeom>
              <a:avLst/>
              <a:gdLst/>
              <a:ahLst/>
              <a:cxnLst/>
              <a:rect l="l" t="t" r="r" b="b"/>
              <a:pathLst>
                <a:path w="2596896" h="1137920">
                  <a:moveTo>
                    <a:pt x="0" y="0"/>
                  </a:moveTo>
                  <a:lnTo>
                    <a:pt x="2596896" y="0"/>
                  </a:lnTo>
                  <a:lnTo>
                    <a:pt x="2596896" y="1137920"/>
                  </a:lnTo>
                  <a:lnTo>
                    <a:pt x="0" y="113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12776" y="89916"/>
            <a:ext cx="2124075" cy="589788"/>
          </a:xfrm>
          <a:custGeom>
            <a:avLst/>
            <a:gdLst/>
            <a:ahLst/>
            <a:cxnLst/>
            <a:rect l="l" t="t" r="r" b="b"/>
            <a:pathLst>
              <a:path w="2124075" h="589788">
                <a:moveTo>
                  <a:pt x="0" y="0"/>
                </a:moveTo>
                <a:lnTo>
                  <a:pt x="2124075" y="0"/>
                </a:lnTo>
                <a:lnTo>
                  <a:pt x="2124075" y="589788"/>
                </a:lnTo>
                <a:lnTo>
                  <a:pt x="0" y="5897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214498" y="84249"/>
            <a:ext cx="3835432" cy="764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440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2880"/>
            <a:ext cx="1298448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77923B"/>
                </a:solidFill>
                <a:latin typeface="Tahoma"/>
              </a:defRPr>
            </a:pPr>
            <a:r>
              <a:t>AeroTwin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rPr dirty="0"/>
              <a:t>❖  NASA Ames Prognostics Center of Excellence (</a:t>
            </a:r>
            <a:r>
              <a:rPr dirty="0" err="1"/>
              <a:t>PCoE</a:t>
            </a:r>
            <a:r>
              <a:rPr dirty="0"/>
              <a:t>), "C-MAPSS Turbofan Degradation and Run-to-Failure Benchmark Dataset", Moffett Field, CA.</a:t>
            </a:r>
            <a:br>
              <a:rPr dirty="0"/>
            </a:br>
            <a:r>
              <a:rPr dirty="0"/>
              <a:t>    </a:t>
            </a:r>
            <a:r>
              <a:rPr sz="1050" u="sng" dirty="0">
                <a:solidFill>
                  <a:srgbClr val="2563EB"/>
                </a:solidFill>
                <a:latin typeface="Calibri"/>
              </a:rPr>
              <a:t>https://www.nasa.gov/intelligent-systems-division/discovery-and-systems-health/pcoe/pcoe-data-set-repository/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rPr dirty="0"/>
              <a:t>❖  Case Western Reserve University &amp; XJTU-SY, "Accelerated Bearing Life and Run-to-Failure Mechanical Fault Benchmark Datasets", CWRU Bearing Data Center.</a:t>
            </a:r>
            <a:br>
              <a:rPr dirty="0"/>
            </a:br>
            <a:r>
              <a:rPr dirty="0"/>
              <a:t>    </a:t>
            </a:r>
            <a:r>
              <a:rPr sz="1050" u="sng" dirty="0">
                <a:solidFill>
                  <a:srgbClr val="2563EB"/>
                </a:solidFill>
                <a:latin typeface="Calibri"/>
              </a:rPr>
              <a:t>https://engineering.case.edu/bearingdatacenter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rPr dirty="0"/>
              <a:t>❖  IEEE Aerospace Conference, "Digital Twin Architecture for Prognostics and Health Management in Autonomous UAV Propulsion Systems", Big Sky, MT, 2021.</a:t>
            </a:r>
            <a:br>
              <a:rPr dirty="0"/>
            </a:br>
            <a:r>
              <a:rPr dirty="0"/>
              <a:t>    </a:t>
            </a:r>
            <a:r>
              <a:rPr sz="1050" u="sng" dirty="0">
                <a:solidFill>
                  <a:srgbClr val="2563EB"/>
                </a:solidFill>
                <a:latin typeface="Calibri"/>
              </a:rPr>
              <a:t>https://doi.org/10.1109/AERO50100.2021.9438250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rPr dirty="0"/>
              <a:t>❖  AIAA Journal of Aerospace Information Systems, "Physics-Informed Machine Learning for Real-Time Aero-Engine State Estimation and Dynamic Envelope Protection", 2023.</a:t>
            </a:r>
            <a:br>
              <a:rPr dirty="0"/>
            </a:br>
            <a:r>
              <a:rPr dirty="0"/>
              <a:t>    </a:t>
            </a:r>
            <a:r>
              <a:rPr sz="1050" u="sng" dirty="0">
                <a:solidFill>
                  <a:srgbClr val="2563EB"/>
                </a:solidFill>
                <a:latin typeface="Calibri"/>
              </a:rPr>
              <a:t>https://doi.org/10.2514/1.I011150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rPr dirty="0"/>
              <a:t>❖  BRP-</a:t>
            </a:r>
            <a:r>
              <a:rPr dirty="0" err="1"/>
              <a:t>Rotax</a:t>
            </a:r>
            <a:r>
              <a:rPr dirty="0"/>
              <a:t> GmbH &amp; Co KG, "Operators and Maintenance Manual for </a:t>
            </a:r>
            <a:r>
              <a:rPr dirty="0" err="1"/>
              <a:t>Rotax</a:t>
            </a:r>
            <a:r>
              <a:rPr dirty="0"/>
              <a:t> 914 F Series Turbocharged Aircraft Engines", OM-914 / MM-914.</a:t>
            </a:r>
            <a:br>
              <a:rPr dirty="0"/>
            </a:br>
            <a:r>
              <a:rPr dirty="0"/>
              <a:t>    </a:t>
            </a:r>
            <a:r>
              <a:rPr sz="1050" u="sng" dirty="0">
                <a:solidFill>
                  <a:srgbClr val="2563EB"/>
                </a:solidFill>
                <a:latin typeface="Calibri"/>
              </a:rPr>
              <a:t>https://www.flyrotax.com/services/technical-documentation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1051</Words>
  <Application>Microsoft Office PowerPoint</Application>
  <PresentationFormat>Widescreen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Bold Italics</vt:lpstr>
      <vt:lpstr>Calibri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SIH1700_HACK-TIVISTS(PPT).pdf</dc:title>
  <cp:lastModifiedBy>sanket suryawanshi</cp:lastModifiedBy>
  <cp:revision>3</cp:revision>
  <dcterms:created xsi:type="dcterms:W3CDTF">2006-08-16T00:00:00Z</dcterms:created>
  <dcterms:modified xsi:type="dcterms:W3CDTF">2026-09-29T17:12:27Z</dcterms:modified>
  <dc:identifier>DAHWRznVlSU</dc:identifier>
</cp:coreProperties>
</file>